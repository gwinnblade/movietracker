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org&amp;utm_campaign=index&amp;utm_content=original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06" d="100"/>
          <a:sy n="106" d="100"/>
        </p:scale>
        <p:origin x="234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20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4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2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917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94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40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5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46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1734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68923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90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513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26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794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61902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500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84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70343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09551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11417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25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58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910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598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56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2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CCDEBB4-1B54-49A5-AB93-222E4BBAFA5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CADEEF7-4ADB-4E9C-8294-4C60B8E72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184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org&amp;utm_campaign=index&amp;utm_content=origina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85368-E19F-6A75-4E15-9B1F50CB9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0387" y="10253"/>
            <a:ext cx="4800600" cy="2762187"/>
          </a:xfrm>
        </p:spPr>
        <p:txBody>
          <a:bodyPr/>
          <a:lstStyle/>
          <a:p>
            <a:r>
              <a:rPr lang="en-US" dirty="0" err="1"/>
              <a:t>MovieTracker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0B4B7B-D73D-CC1E-297A-B34FF9634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0387" y="2592785"/>
            <a:ext cx="3830874" cy="977651"/>
          </a:xfrm>
        </p:spPr>
        <p:txBody>
          <a:bodyPr anchor="ctr"/>
          <a:lstStyle/>
          <a:p>
            <a:r>
              <a:rPr lang="en-US" dirty="0"/>
              <a:t>Web-</a:t>
            </a:r>
            <a:r>
              <a:rPr lang="ru-RU" dirty="0"/>
              <a:t>сервис для учета фильмов, сериалов, аниме и других медиа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7CF85-1F24-E4DF-CDE6-C93E647B49D8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4AE56DF-7EB4-98A2-3D55-1FB14D480F60}"/>
              </a:ext>
            </a:extLst>
          </p:cNvPr>
          <p:cNvSpPr txBox="1">
            <a:spLocks/>
          </p:cNvSpPr>
          <p:nvPr/>
        </p:nvSpPr>
        <p:spPr>
          <a:xfrm>
            <a:off x="6310387" y="3585537"/>
            <a:ext cx="4448940" cy="580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Проект по дисциплине «</a:t>
            </a:r>
            <a:r>
              <a:rPr lang="en-US" dirty="0"/>
              <a:t>web-</a:t>
            </a:r>
            <a:r>
              <a:rPr lang="ru-RU" dirty="0"/>
              <a:t>программирование»</a:t>
            </a:r>
            <a:endParaRPr lang="en-US" dirty="0"/>
          </a:p>
          <a:p>
            <a:r>
              <a:rPr lang="ru-RU" dirty="0"/>
              <a:t>Выполнили студенты группы БПИ-24-1: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7F78D2-B9CB-B8C6-8C15-D464DA860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436" y="4346376"/>
            <a:ext cx="1469560" cy="21422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710B12-5DE9-91BA-77D7-98DB7086A598}"/>
              </a:ext>
            </a:extLst>
          </p:cNvPr>
          <p:cNvSpPr txBox="1"/>
          <p:nvPr/>
        </p:nvSpPr>
        <p:spPr>
          <a:xfrm>
            <a:off x="8282141" y="6473567"/>
            <a:ext cx="120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Колобов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1481B1-6E28-BBF7-2597-EC10A33BAB5F}"/>
              </a:ext>
            </a:extLst>
          </p:cNvPr>
          <p:cNvSpPr txBox="1"/>
          <p:nvPr/>
        </p:nvSpPr>
        <p:spPr>
          <a:xfrm>
            <a:off x="6871914" y="6477516"/>
            <a:ext cx="104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/>
              <a:t>Леснов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C044657-F359-6138-41B3-B1C438AF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87" y="4419021"/>
            <a:ext cx="1410228" cy="205454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EF3B905-EED8-CE52-C731-58D97FD00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362" y="4415072"/>
            <a:ext cx="1307874" cy="19972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C82CC3-AC02-C7A1-BC1D-0C5EBD66CEEF}"/>
              </a:ext>
            </a:extLst>
          </p:cNvPr>
          <p:cNvSpPr txBox="1"/>
          <p:nvPr/>
        </p:nvSpPr>
        <p:spPr>
          <a:xfrm>
            <a:off x="5475012" y="6467481"/>
            <a:ext cx="1320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Кувшинов</a:t>
            </a: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93B2B2-72AA-9EC7-A108-D6BE9426C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427" y="4414098"/>
            <a:ext cx="1454433" cy="208856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EFA78F2-068C-7068-3C50-50498BBC467F}"/>
              </a:ext>
            </a:extLst>
          </p:cNvPr>
          <p:cNvSpPr txBox="1"/>
          <p:nvPr/>
        </p:nvSpPr>
        <p:spPr>
          <a:xfrm>
            <a:off x="9641427" y="6473567"/>
            <a:ext cx="1469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Луковников</a:t>
            </a:r>
          </a:p>
        </p:txBody>
      </p:sp>
    </p:spTree>
    <p:extLst>
      <p:ext uri="{BB962C8B-B14F-4D97-AF65-F5344CB8AC3E}">
        <p14:creationId xmlns:p14="http://schemas.microsoft.com/office/powerpoint/2010/main" val="1853519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1BE59-CFFC-3D77-4972-C526B0BE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MovieTracker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C3F3BD-F856-50AC-C0B5-025D99FDB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MovieTracker</a:t>
            </a:r>
            <a:r>
              <a:rPr lang="ru-RU" dirty="0"/>
              <a:t> — это веб-сайт для ведения личных списков просмотренных и запланированных медиа.</a:t>
            </a:r>
          </a:p>
          <a:p>
            <a:pPr lvl="0"/>
            <a:r>
              <a:rPr lang="ru-RU" dirty="0"/>
              <a:t>Сервис объединяет фильмы, сериалы, аниме и мультфильмы в одном пространстве.</a:t>
            </a:r>
          </a:p>
          <a:p>
            <a:pPr lvl="0"/>
            <a:r>
              <a:rPr lang="ru-RU" dirty="0"/>
              <a:t>Пользователь может: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отмечать просмотренное;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планировать к просмотру;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ставить оценки;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вести заметки;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отслеживать прогресс;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смотреть статистику.</a:t>
            </a:r>
          </a:p>
          <a:p>
            <a:endParaRPr lang="ru-RU" dirty="0"/>
          </a:p>
        </p:txBody>
      </p:sp>
      <p:pic>
        <p:nvPicPr>
          <p:cNvPr id="1028" name="Picture 4" descr="Uma Musume Kindergarten #14 – Mac-chan is also desperate. (FUNA-O) : r/ UmaMusu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000" y="4483650"/>
            <a:ext cx="1603556" cy="138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1771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DCB8B-8667-B8F2-462F-5BDA2585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Какую проблему решает проект?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C6229-23EC-1D3A-F944-C55B6F39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Существующие сервисы часто ориентированы только на один тип медиа: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отдельно фильмы;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отдельно сериалы;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отдельно аниме.</a:t>
            </a:r>
          </a:p>
          <a:p>
            <a:pPr lvl="0"/>
            <a:r>
              <a:rPr lang="ru-RU" dirty="0"/>
              <a:t>Пользователю неудобно вести несколько списков на разных платформах.</a:t>
            </a:r>
          </a:p>
          <a:p>
            <a:pPr lvl="0"/>
            <a:r>
              <a:rPr lang="ru-RU" dirty="0"/>
              <a:t>Нет единого места для: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оценок;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заметок;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прогресса просмотра;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ru-RU" dirty="0"/>
              <a:t>личной статистики.</a:t>
            </a:r>
          </a:p>
          <a:p>
            <a:endParaRPr lang="ru-RU" dirty="0"/>
          </a:p>
        </p:txBody>
      </p:sp>
      <p:pic>
        <p:nvPicPr>
          <p:cNvPr id="4" name="Picture 2" descr="https://api.removal.ai/download/g1/preview/28b74da7-5d37-44b7-8557-4038f8ef0bf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744" y="3234548"/>
            <a:ext cx="2723048" cy="27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45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09E0-20A8-E354-7580-FF314E34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создания </a:t>
            </a:r>
            <a:r>
              <a:rPr lang="ru-RU" dirty="0" err="1"/>
              <a:t>MovieTracker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30168-8E24-0FE3-8FA3-D761751BF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удобный веб-сервис, который позволяет пользователям автоматически формировать статистику по просмотренным и запланированным медиа.</a:t>
            </a:r>
          </a:p>
          <a:p>
            <a:endParaRPr lang="ru-RU" dirty="0"/>
          </a:p>
          <a:p>
            <a:r>
              <a:rPr lang="ru-RU" b="1" dirty="0"/>
              <a:t>Основные цели: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Сформировать библиотеку медиа.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Дать пользователям возможность создавать собственные списки.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Реализовать систему статусов, оценок и заметок.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Обеспечить инструменты модерации данных.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Добавить статистику и прогресс просмотра.</a:t>
            </a:r>
          </a:p>
          <a:p>
            <a:endParaRPr lang="ru-RU" dirty="0"/>
          </a:p>
        </p:txBody>
      </p:sp>
      <p:pic>
        <p:nvPicPr>
          <p:cNvPr id="2050" name="Picture 2" descr="Uma Musume Pretty Derby Artworks Vol. 3 – Umadacchi Densets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832" y="2447911"/>
            <a:ext cx="2158482" cy="287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Скругленная соединительная линия 4"/>
          <p:cNvCxnSpPr>
            <a:stCxn id="2050" idx="1"/>
          </p:cNvCxnSpPr>
          <p:nvPr/>
        </p:nvCxnSpPr>
        <p:spPr>
          <a:xfrm rot="10800000">
            <a:off x="3856658" y="3707363"/>
            <a:ext cx="5480175" cy="17902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30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EA2AD-C772-EEC4-604B-E87ECE74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кого этот сервис?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2DD988-46DE-3EF8-79E0-83401AADA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Кто-кто?: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Любители фильмов и сериалов.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Аниме-зрители.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Люди, которые хотят вести личный дневник просмотренного.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Пользователи, которым важны оценки и статистика.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Те, кто хочет делиться своими подборками с другими.</a:t>
            </a:r>
          </a:p>
          <a:p>
            <a:endParaRPr lang="ru-RU" dirty="0"/>
          </a:p>
        </p:txBody>
      </p:sp>
      <p:pic>
        <p:nvPicPr>
          <p:cNvPr id="4098" name="Picture 2" descr="Uma Musume: Pretty Derby (TV Series 2018– ) - IMDb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540" y="416473"/>
            <a:ext cx="2225040" cy="314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Скругленная соединительная линия 4"/>
          <p:cNvCxnSpPr>
            <a:endCxn id="4098" idx="1"/>
          </p:cNvCxnSpPr>
          <p:nvPr/>
        </p:nvCxnSpPr>
        <p:spPr>
          <a:xfrm flipV="1">
            <a:off x="2506980" y="1989703"/>
            <a:ext cx="6385560" cy="108115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I will never remember these names : r/UmaMusume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299" y="4165156"/>
            <a:ext cx="2353945" cy="216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Скругленная соединительная линия 7"/>
          <p:cNvCxnSpPr>
            <a:stCxn id="4100" idx="1"/>
          </p:cNvCxnSpPr>
          <p:nvPr/>
        </p:nvCxnSpPr>
        <p:spPr>
          <a:xfrm rot="10800000">
            <a:off x="5400621" y="4259970"/>
            <a:ext cx="1952678" cy="98698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37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442B3-780D-3E10-F28B-C7B9F161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пользователя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A4EA83-8D92-2205-0623-5F7A1429D15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0"/>
            <a:r>
              <a:rPr lang="ru-RU" dirty="0"/>
              <a:t>Возможности: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Регистрация и авторизация.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Просмотр каталога медиа.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Поиск фильмов, сериалов и аниме.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Добавление медиа в личные списки.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Отметки статусов:</a:t>
            </a:r>
          </a:p>
          <a:p>
            <a:pPr marL="285750" lvl="0" indent="-568800">
              <a:buFont typeface="Courier New" panose="02070309020205020404" pitchFamily="49" charset="0"/>
              <a:buChar char="o"/>
            </a:pPr>
            <a:r>
              <a:rPr lang="ru-RU" dirty="0"/>
              <a:t>«Хочу посмотреть»;</a:t>
            </a:r>
          </a:p>
          <a:p>
            <a:pPr marL="285750" lvl="0" indent="-568800">
              <a:buFont typeface="Courier New" panose="02070309020205020404" pitchFamily="49" charset="0"/>
              <a:buChar char="o"/>
            </a:pPr>
            <a:r>
              <a:rPr lang="ru-RU" dirty="0"/>
              <a:t>«Смотрю»;</a:t>
            </a:r>
          </a:p>
          <a:p>
            <a:pPr marL="285750" lvl="0" indent="-568800">
              <a:buFont typeface="Courier New" panose="02070309020205020404" pitchFamily="49" charset="0"/>
              <a:buChar char="o"/>
            </a:pPr>
            <a:r>
              <a:rPr lang="ru-RU" dirty="0"/>
              <a:t>«Просмотрено»;</a:t>
            </a:r>
          </a:p>
          <a:p>
            <a:pPr marL="285750" lvl="0" indent="-568800">
              <a:buFont typeface="Courier New" panose="02070309020205020404" pitchFamily="49" charset="0"/>
              <a:buChar char="o"/>
            </a:pPr>
            <a:r>
              <a:rPr lang="ru-RU" dirty="0"/>
              <a:t>«Пересмотрено»;</a:t>
            </a:r>
          </a:p>
          <a:p>
            <a:pPr marL="285750" lvl="0" indent="-568800">
              <a:buFont typeface="Courier New" panose="02070309020205020404" pitchFamily="49" charset="0"/>
              <a:buChar char="o"/>
            </a:pPr>
            <a:r>
              <a:rPr lang="ru-RU" dirty="0"/>
              <a:t>«Заброшено».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D8D480-F9BC-0791-E193-B98EE2B52E2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Оценка по 10-балльной шкале.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Заметки к медиа и эпизодам.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Отслеживание прогресса по сериалам.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Личная статистика.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27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36EA15-C555-E686-2CA5-3C169555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Личные списки пользователя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D82AA1-4045-B7DF-D9EE-2EEE1ACF1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Пользователь может создавать собственные списки.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Списки могут быть: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открытыми;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закрытыми.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Открытым списком можно поделиться по ссылке.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Списки можно сортировать и фильтровать: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по дате добавления;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по статусу;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по оценке.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 умолчанию списки сортируются от новых к старым.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74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C9A4E-0326-E833-36AD-5914E726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появляется информация о медиа?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9F0328-3D50-509D-8478-AE9CA8595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Пользователи могут добавлять медиа вручную.</a:t>
            </a:r>
          </a:p>
          <a:p>
            <a:pPr lvl="0"/>
            <a:r>
              <a:rPr lang="ru-RU" dirty="0"/>
              <a:t>Можно использовать поиск по внешним базам данных.</a:t>
            </a:r>
          </a:p>
          <a:p>
            <a:pPr lvl="0"/>
            <a:r>
              <a:rPr lang="ru-RU" dirty="0"/>
              <a:t>Все новые медиа и изменения проходят модерацию.</a:t>
            </a:r>
          </a:p>
          <a:p>
            <a:pPr lvl="0"/>
            <a:r>
              <a:rPr lang="ru-RU" dirty="0"/>
              <a:t>Администратор или модератор может запускать автоматическое наполнение базы.</a:t>
            </a:r>
          </a:p>
          <a:p>
            <a:pPr lvl="0"/>
            <a:r>
              <a:rPr lang="ru-RU" dirty="0"/>
              <a:t>Автоматически собранные данные не публикуются сразу, а попадают в очередь модерации.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2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9B3AF-CED4-0726-EEC7-31C5A1CB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модерации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4BF2E6-7BE4-C750-20FE-F6866AACF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Создание нового медиа отправляется на модерацию.</a:t>
            </a:r>
          </a:p>
          <a:p>
            <a:pPr lvl="0"/>
            <a:r>
              <a:rPr lang="ru-RU" dirty="0"/>
              <a:t>Изменение существующего медиа тоже отправляется на модерацию.</a:t>
            </a:r>
          </a:p>
          <a:p>
            <a:pPr lvl="0"/>
            <a:r>
              <a:rPr lang="ru-RU" dirty="0"/>
              <a:t>Модератор может: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принять заявку;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отклонить заявку;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ru-RU" dirty="0"/>
              <a:t>оставить комментарий.</a:t>
            </a:r>
          </a:p>
          <a:p>
            <a:pPr lvl="0"/>
            <a:r>
              <a:rPr lang="ru-RU" dirty="0"/>
              <a:t>Автоматический импорт данных также требует проверки.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735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1F899-1CDF-F3F6-1306-16ABBBC5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720A214-67EF-DC92-419D-003AD8A3E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619264"/>
              </p:ext>
            </p:extLst>
          </p:nvPr>
        </p:nvGraphicFramePr>
        <p:xfrm>
          <a:off x="428625" y="2133600"/>
          <a:ext cx="9942513" cy="37744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314171">
                  <a:extLst>
                    <a:ext uri="{9D8B030D-6E8A-4147-A177-3AD203B41FA5}">
                      <a16:colId xmlns:a16="http://schemas.microsoft.com/office/drawing/2014/main" val="2388894919"/>
                    </a:ext>
                  </a:extLst>
                </a:gridCol>
                <a:gridCol w="3314171">
                  <a:extLst>
                    <a:ext uri="{9D8B030D-6E8A-4147-A177-3AD203B41FA5}">
                      <a16:colId xmlns:a16="http://schemas.microsoft.com/office/drawing/2014/main" val="100494283"/>
                    </a:ext>
                  </a:extLst>
                </a:gridCol>
                <a:gridCol w="3314171">
                  <a:extLst>
                    <a:ext uri="{9D8B030D-6E8A-4147-A177-3AD203B41FA5}">
                      <a16:colId xmlns:a16="http://schemas.microsoft.com/office/drawing/2014/main" val="4239719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Слой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Серверная часть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PHP 8.2+, Laravel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 API, </a:t>
                      </a:r>
                      <a:r>
                        <a:rPr lang="ru-RU" dirty="0"/>
                        <a:t>бизнес-логика, авторизация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23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База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SQLite 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Хранение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4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Клиентская часть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React, Next.js, TypeScript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Пользовательский интерфейс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605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Авторизация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Laravel Sanctum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Вход, сессии, защита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106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Хранение файлов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S3-</a:t>
                      </a:r>
                      <a:r>
                        <a:rPr lang="ru-RU" dirty="0"/>
                        <a:t>совместное хранилище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Постеры и изображения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8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Внешние </a:t>
                      </a:r>
                      <a:r>
                        <a:rPr lang="en-US" dirty="0"/>
                        <a:t>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TMDb</a:t>
                      </a:r>
                      <a:r>
                        <a:rPr lang="en-US" dirty="0"/>
                        <a:t>, Telegram-</a:t>
                      </a:r>
                      <a:r>
                        <a:rPr lang="ru-RU" dirty="0"/>
                        <a:t>боты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AnimeDB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Поиск данных, импорт, уведомления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3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Развертывание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Docker, Nginx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Запуск проекта на сервере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72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94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C09B6-97D2-CF45-9F0E-5DABCBED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B995E3-6166-3989-77EE-756AF5020AA6}"/>
              </a:ext>
            </a:extLst>
          </p:cNvPr>
          <p:cNvSpPr/>
          <p:nvPr/>
        </p:nvSpPr>
        <p:spPr>
          <a:xfrm>
            <a:off x="590550" y="2355850"/>
            <a:ext cx="1606550" cy="7810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A6BD88-4E5B-9B6F-9AA8-9C212919EEC5}"/>
              </a:ext>
            </a:extLst>
          </p:cNvPr>
          <p:cNvSpPr/>
          <p:nvPr/>
        </p:nvSpPr>
        <p:spPr>
          <a:xfrm>
            <a:off x="2425700" y="3429000"/>
            <a:ext cx="1606550" cy="7810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браузер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8D6268-134B-7091-D2F5-928668DE805B}"/>
              </a:ext>
            </a:extLst>
          </p:cNvPr>
          <p:cNvSpPr/>
          <p:nvPr/>
        </p:nvSpPr>
        <p:spPr>
          <a:xfrm>
            <a:off x="4358483" y="4210050"/>
            <a:ext cx="1606550" cy="7810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/>
              <a:t>Nginx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1DD65BA-D7AC-C1EC-58B7-F2927A7CF169}"/>
              </a:ext>
            </a:extLst>
          </p:cNvPr>
          <p:cNvSpPr/>
          <p:nvPr/>
        </p:nvSpPr>
        <p:spPr>
          <a:xfrm>
            <a:off x="6226969" y="4991100"/>
            <a:ext cx="1606550" cy="7810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/>
              <a:t>Next.js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DC835D7-BC12-294E-8324-F951FDC34E4E}"/>
              </a:ext>
            </a:extLst>
          </p:cNvPr>
          <p:cNvSpPr/>
          <p:nvPr/>
        </p:nvSpPr>
        <p:spPr>
          <a:xfrm>
            <a:off x="8426450" y="5511800"/>
            <a:ext cx="2139950" cy="90487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/>
              <a:t>SQLite + S3 </a:t>
            </a:r>
            <a:r>
              <a:rPr lang="ru-RU" dirty="0"/>
              <a:t>+ внешние </a:t>
            </a:r>
            <a:r>
              <a:rPr lang="en-US" dirty="0"/>
              <a:t>API</a:t>
            </a:r>
            <a:endParaRPr lang="ru-RU" dirty="0"/>
          </a:p>
        </p:txBody>
      </p: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03FEDE52-B26F-AB51-C273-DCC24C0718DA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1568450" y="2962274"/>
            <a:ext cx="682625" cy="1031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5F9BD1C7-1517-57EF-BC81-9FC8A0FC8AFE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rot="16200000" flipH="1">
            <a:off x="3598467" y="3840558"/>
            <a:ext cx="390525" cy="11295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5B6CDC86-A785-623D-48C4-7F2BD217D59D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5515176" y="4637682"/>
            <a:ext cx="390524" cy="10973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AC3773C6-7896-5826-5A8C-09B1547DD57D}"/>
              </a:ext>
            </a:extLst>
          </p:cNvPr>
          <p:cNvCxnSpPr>
            <a:cxnSpLocks/>
            <a:stCxn id="10" idx="2"/>
            <a:endCxn id="12" idx="1"/>
          </p:cNvCxnSpPr>
          <p:nvPr/>
        </p:nvCxnSpPr>
        <p:spPr>
          <a:xfrm rot="16200000" flipH="1">
            <a:off x="7632303" y="5170091"/>
            <a:ext cx="192088" cy="13962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1275A1-FD8B-9306-C824-D4C6A189D809}"/>
              </a:ext>
            </a:extLst>
          </p:cNvPr>
          <p:cNvSpPr txBox="1"/>
          <p:nvPr/>
        </p:nvSpPr>
        <p:spPr>
          <a:xfrm>
            <a:off x="6400800" y="2065199"/>
            <a:ext cx="579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Клиентская часть на </a:t>
            </a:r>
            <a:r>
              <a:rPr lang="en-US" dirty="0"/>
              <a:t>Next.js</a:t>
            </a:r>
          </a:p>
          <a:p>
            <a:r>
              <a:rPr lang="ru-RU" dirty="0"/>
              <a:t>Серверная часть на </a:t>
            </a:r>
            <a:r>
              <a:rPr lang="en-US" dirty="0"/>
              <a:t>Laravel</a:t>
            </a:r>
          </a:p>
          <a:p>
            <a:r>
              <a:rPr lang="ru-RU" dirty="0"/>
              <a:t>БД – </a:t>
            </a:r>
            <a:r>
              <a:rPr lang="en-US" dirty="0"/>
              <a:t>SQLite</a:t>
            </a:r>
          </a:p>
          <a:p>
            <a:r>
              <a:rPr lang="ru-RU" dirty="0"/>
              <a:t>Файловое хранилище для постеров</a:t>
            </a:r>
          </a:p>
          <a:p>
            <a:r>
              <a:rPr lang="ru-RU" dirty="0"/>
              <a:t>Фоновые процессы для импорта и задач</a:t>
            </a:r>
          </a:p>
          <a:p>
            <a:r>
              <a:rPr lang="ru-RU" dirty="0"/>
              <a:t>Внешние сервисы: </a:t>
            </a:r>
            <a:r>
              <a:rPr lang="en-US" dirty="0" err="1"/>
              <a:t>TMDb</a:t>
            </a:r>
            <a:r>
              <a:rPr lang="en-US" dirty="0"/>
              <a:t>, </a:t>
            </a:r>
            <a:r>
              <a:rPr lang="en-US" dirty="0" err="1"/>
              <a:t>AnimeDB</a:t>
            </a:r>
            <a:r>
              <a:rPr lang="en-US" dirty="0"/>
              <a:t>, SMTP</a:t>
            </a:r>
            <a:endParaRPr lang="ru-RU" dirty="0"/>
          </a:p>
        </p:txBody>
      </p:sp>
      <p:pic>
        <p:nvPicPr>
          <p:cNvPr id="21" name="Рисунок 20" descr="Laravel Logo PNG, Icon Transparent Free Download">
            <a:extLst>
              <a:ext uri="{FF2B5EF4-FFF2-40B4-BE49-F238E27FC236}">
                <a16:creationId xmlns:a16="http://schemas.microsoft.com/office/drawing/2014/main" id="{1E4160B3-386F-411B-1B5C-D74CD4E33F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2457848" y="3872754"/>
            <a:ext cx="326233" cy="337296"/>
          </a:xfrm>
          <a:prstGeom prst="rect">
            <a:avLst/>
          </a:prstGeom>
        </p:spPr>
      </p:pic>
      <p:pic>
        <p:nvPicPr>
          <p:cNvPr id="24" name="Рисунок 23" descr="Collection of Nginx Logo PNG. | PlusPNG">
            <a:extLst>
              <a:ext uri="{FF2B5EF4-FFF2-40B4-BE49-F238E27FC236}">
                <a16:creationId xmlns:a16="http://schemas.microsoft.com/office/drawing/2014/main" id="{ABED0077-CE5A-75FA-1141-10B9468BC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954" y="4493948"/>
            <a:ext cx="878092" cy="603779"/>
          </a:xfrm>
          <a:prstGeom prst="rect">
            <a:avLst/>
          </a:prstGeom>
        </p:spPr>
      </p:pic>
      <p:pic>
        <p:nvPicPr>
          <p:cNvPr id="26" name="Рисунок 25" descr="Turnkey website development on Next.js">
            <a:extLst>
              <a:ext uri="{FF2B5EF4-FFF2-40B4-BE49-F238E27FC236}">
                <a16:creationId xmlns:a16="http://schemas.microsoft.com/office/drawing/2014/main" id="{5D48B278-2F9C-AAEF-9BEC-4ED0631E1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69" y="5381229"/>
            <a:ext cx="391318" cy="391318"/>
          </a:xfrm>
          <a:prstGeom prst="rect">
            <a:avLst/>
          </a:prstGeom>
        </p:spPr>
      </p:pic>
      <p:pic>
        <p:nvPicPr>
          <p:cNvPr id="27" name="Рисунок 26" descr="Sqlite logo - free Icon PNG, SVG">
            <a:extLst>
              <a:ext uri="{FF2B5EF4-FFF2-40B4-BE49-F238E27FC236}">
                <a16:creationId xmlns:a16="http://schemas.microsoft.com/office/drawing/2014/main" id="{1291940E-3A96-653A-AF8E-9AFF7EA41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0" y="6061075"/>
            <a:ext cx="355600" cy="355600"/>
          </a:xfrm>
          <a:prstGeom prst="rect">
            <a:avLst/>
          </a:prstGeom>
        </p:spPr>
      </p:pic>
      <p:pic>
        <p:nvPicPr>
          <p:cNvPr id="29" name="Рисунок 28" descr="File:User icon-cp.png - Wikimedia Commons">
            <a:extLst>
              <a:ext uri="{FF2B5EF4-FFF2-40B4-BE49-F238E27FC236}">
                <a16:creationId xmlns:a16="http://schemas.microsoft.com/office/drawing/2014/main" id="{25819D7C-5FFE-DC5A-E7EE-19D2EECE9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844800"/>
            <a:ext cx="235141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5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1AC58-18B3-95E0-71C4-83382E2F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41" y="206643"/>
            <a:ext cx="9942409" cy="876193"/>
          </a:xfrm>
        </p:spPr>
        <p:txBody>
          <a:bodyPr/>
          <a:lstStyle/>
          <a:p>
            <a:r>
              <a:rPr lang="ru-RU" dirty="0"/>
              <a:t>Основные сущности</a:t>
            </a:r>
          </a:p>
        </p:txBody>
      </p:sp>
      <p:sp>
        <p:nvSpPr>
          <p:cNvPr id="4" name="Блок-схема: процесс 3">
            <a:extLst>
              <a:ext uri="{FF2B5EF4-FFF2-40B4-BE49-F238E27FC236}">
                <a16:creationId xmlns:a16="http://schemas.microsoft.com/office/drawing/2014/main" id="{3BD566E0-EF6B-D421-0219-FA8A644417D5}"/>
              </a:ext>
            </a:extLst>
          </p:cNvPr>
          <p:cNvSpPr/>
          <p:nvPr/>
        </p:nvSpPr>
        <p:spPr>
          <a:xfrm>
            <a:off x="781050" y="1784456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</a:t>
            </a:r>
          </a:p>
        </p:txBody>
      </p:sp>
      <p:sp>
        <p:nvSpPr>
          <p:cNvPr id="9" name="Блок-схема: процесс 8">
            <a:extLst>
              <a:ext uri="{FF2B5EF4-FFF2-40B4-BE49-F238E27FC236}">
                <a16:creationId xmlns:a16="http://schemas.microsoft.com/office/drawing/2014/main" id="{A15D89ED-6FCD-F30D-7430-B70965A7C735}"/>
              </a:ext>
            </a:extLst>
          </p:cNvPr>
          <p:cNvSpPr/>
          <p:nvPr/>
        </p:nvSpPr>
        <p:spPr>
          <a:xfrm>
            <a:off x="5734050" y="2851203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Медиа</a:t>
            </a:r>
          </a:p>
        </p:txBody>
      </p:sp>
      <p:sp>
        <p:nvSpPr>
          <p:cNvPr id="13" name="Блок-схема: процесс 12">
            <a:extLst>
              <a:ext uri="{FF2B5EF4-FFF2-40B4-BE49-F238E27FC236}">
                <a16:creationId xmlns:a16="http://schemas.microsoft.com/office/drawing/2014/main" id="{314A37C8-A256-9F64-7FA3-25C591BFEC68}"/>
              </a:ext>
            </a:extLst>
          </p:cNvPr>
          <p:cNvSpPr/>
          <p:nvPr/>
        </p:nvSpPr>
        <p:spPr>
          <a:xfrm>
            <a:off x="6096000" y="1098764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Компания</a:t>
            </a:r>
          </a:p>
        </p:txBody>
      </p:sp>
      <p:sp>
        <p:nvSpPr>
          <p:cNvPr id="15" name="Блок-схема: процесс 14">
            <a:extLst>
              <a:ext uri="{FF2B5EF4-FFF2-40B4-BE49-F238E27FC236}">
                <a16:creationId xmlns:a16="http://schemas.microsoft.com/office/drawing/2014/main" id="{68BE8501-4B3A-5575-F479-4EAC2231BEB6}"/>
              </a:ext>
            </a:extLst>
          </p:cNvPr>
          <p:cNvSpPr/>
          <p:nvPr/>
        </p:nvSpPr>
        <p:spPr>
          <a:xfrm>
            <a:off x="9474201" y="2851201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Тип медиа</a:t>
            </a:r>
          </a:p>
        </p:txBody>
      </p:sp>
      <p:sp>
        <p:nvSpPr>
          <p:cNvPr id="19" name="Блок-схема: процесс 18">
            <a:extLst>
              <a:ext uri="{FF2B5EF4-FFF2-40B4-BE49-F238E27FC236}">
                <a16:creationId xmlns:a16="http://schemas.microsoft.com/office/drawing/2014/main" id="{ED5FD327-CAD3-4997-DC7B-33AC7357203A}"/>
              </a:ext>
            </a:extLst>
          </p:cNvPr>
          <p:cNvSpPr/>
          <p:nvPr/>
        </p:nvSpPr>
        <p:spPr>
          <a:xfrm>
            <a:off x="3911600" y="4344988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Эпизод</a:t>
            </a:r>
          </a:p>
        </p:txBody>
      </p:sp>
      <p:sp>
        <p:nvSpPr>
          <p:cNvPr id="21" name="Блок-схема: процесс 20">
            <a:extLst>
              <a:ext uri="{FF2B5EF4-FFF2-40B4-BE49-F238E27FC236}">
                <a16:creationId xmlns:a16="http://schemas.microsoft.com/office/drawing/2014/main" id="{8AA2DFAE-53A6-A6D2-6A45-7A27C6F50F0C}"/>
              </a:ext>
            </a:extLst>
          </p:cNvPr>
          <p:cNvSpPr/>
          <p:nvPr/>
        </p:nvSpPr>
        <p:spPr>
          <a:xfrm>
            <a:off x="8985250" y="5073542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Отмеченное медиа</a:t>
            </a:r>
          </a:p>
        </p:txBody>
      </p:sp>
      <p:sp>
        <p:nvSpPr>
          <p:cNvPr id="23" name="Блок-схема: процесс 22">
            <a:extLst>
              <a:ext uri="{FF2B5EF4-FFF2-40B4-BE49-F238E27FC236}">
                <a16:creationId xmlns:a16="http://schemas.microsoft.com/office/drawing/2014/main" id="{087C7490-03A4-BDDA-0900-3EDE6EE1974E}"/>
              </a:ext>
            </a:extLst>
          </p:cNvPr>
          <p:cNvSpPr/>
          <p:nvPr/>
        </p:nvSpPr>
        <p:spPr>
          <a:xfrm>
            <a:off x="2158999" y="5262803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Отмеченный эпизод</a:t>
            </a:r>
          </a:p>
        </p:txBody>
      </p:sp>
      <p:sp>
        <p:nvSpPr>
          <p:cNvPr id="25" name="Блок-схема: процесс 24">
            <a:extLst>
              <a:ext uri="{FF2B5EF4-FFF2-40B4-BE49-F238E27FC236}">
                <a16:creationId xmlns:a16="http://schemas.microsoft.com/office/drawing/2014/main" id="{02664733-F19E-49D1-1478-76745BA63801}"/>
              </a:ext>
            </a:extLst>
          </p:cNvPr>
          <p:cNvSpPr/>
          <p:nvPr/>
        </p:nvSpPr>
        <p:spPr>
          <a:xfrm>
            <a:off x="288925" y="3576638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Пользовательский список</a:t>
            </a:r>
          </a:p>
        </p:txBody>
      </p:sp>
      <p:sp>
        <p:nvSpPr>
          <p:cNvPr id="27" name="Блок-схема: процесс 26">
            <a:extLst>
              <a:ext uri="{FF2B5EF4-FFF2-40B4-BE49-F238E27FC236}">
                <a16:creationId xmlns:a16="http://schemas.microsoft.com/office/drawing/2014/main" id="{C5A96CF0-120E-C073-1512-44FA945B0A09}"/>
              </a:ext>
            </a:extLst>
          </p:cNvPr>
          <p:cNvSpPr/>
          <p:nvPr/>
        </p:nvSpPr>
        <p:spPr>
          <a:xfrm>
            <a:off x="2825750" y="908263"/>
            <a:ext cx="1663700" cy="876193"/>
          </a:xfrm>
          <a:prstGeom prst="flowChart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ru-RU" dirty="0"/>
              <a:t>Заявка на модерацию</a:t>
            </a:r>
          </a:p>
        </p:txBody>
      </p: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3B3DBD81-CE0A-0397-95B1-226274D17EF8}"/>
              </a:ext>
            </a:extLst>
          </p:cNvPr>
          <p:cNvCxnSpPr>
            <a:cxnSpLocks/>
            <a:stCxn id="9" idx="2"/>
            <a:endCxn id="21" idx="3"/>
          </p:cNvCxnSpPr>
          <p:nvPr/>
        </p:nvCxnSpPr>
        <p:spPr>
          <a:xfrm rot="16200000" flipH="1">
            <a:off x="7715304" y="2577992"/>
            <a:ext cx="1784243" cy="4083050"/>
          </a:xfrm>
          <a:prstGeom prst="bentConnector4">
            <a:avLst>
              <a:gd name="adj1" fmla="val 37723"/>
              <a:gd name="adj2" fmla="val 105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049DEF48-388C-D84C-28EC-CA93FF360EA1}"/>
              </a:ext>
            </a:extLst>
          </p:cNvPr>
          <p:cNvCxnSpPr>
            <a:stCxn id="15" idx="1"/>
            <a:endCxn id="9" idx="3"/>
          </p:cNvCxnSpPr>
          <p:nvPr/>
        </p:nvCxnSpPr>
        <p:spPr>
          <a:xfrm rot="10800000" flipV="1">
            <a:off x="7397751" y="3289298"/>
            <a:ext cx="2076451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8323ECFB-019A-D36C-53B4-C58556B7C58D}"/>
              </a:ext>
            </a:extLst>
          </p:cNvPr>
          <p:cNvCxnSpPr>
            <a:cxnSpLocks/>
            <a:stCxn id="19" idx="2"/>
            <a:endCxn id="23" idx="2"/>
          </p:cNvCxnSpPr>
          <p:nvPr/>
        </p:nvCxnSpPr>
        <p:spPr>
          <a:xfrm rot="5400000">
            <a:off x="3408243" y="4803788"/>
            <a:ext cx="917815" cy="1752601"/>
          </a:xfrm>
          <a:prstGeom prst="bentConnector3">
            <a:avLst>
              <a:gd name="adj1" fmla="val 1249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573DC53A-C680-0C52-68F2-D8BCB9F676AE}"/>
              </a:ext>
            </a:extLst>
          </p:cNvPr>
          <p:cNvCxnSpPr>
            <a:stCxn id="27" idx="1"/>
            <a:endCxn id="4" idx="0"/>
          </p:cNvCxnSpPr>
          <p:nvPr/>
        </p:nvCxnSpPr>
        <p:spPr>
          <a:xfrm rot="10800000" flipV="1">
            <a:off x="1612900" y="1346360"/>
            <a:ext cx="1212850" cy="4380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: уступ 51">
            <a:extLst>
              <a:ext uri="{FF2B5EF4-FFF2-40B4-BE49-F238E27FC236}">
                <a16:creationId xmlns:a16="http://schemas.microsoft.com/office/drawing/2014/main" id="{A41BE97B-076A-F0AE-9A1D-338F4D26DD51}"/>
              </a:ext>
            </a:extLst>
          </p:cNvPr>
          <p:cNvCxnSpPr>
            <a:cxnSpLocks/>
            <a:stCxn id="9" idx="2"/>
            <a:endCxn id="19" idx="3"/>
          </p:cNvCxnSpPr>
          <p:nvPr/>
        </p:nvCxnSpPr>
        <p:spPr>
          <a:xfrm rot="5400000">
            <a:off x="5542756" y="3759940"/>
            <a:ext cx="1055689" cy="9906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CC3B9922-78DB-FEF9-5D16-C8E9403E6D14}"/>
              </a:ext>
            </a:extLst>
          </p:cNvPr>
          <p:cNvCxnSpPr>
            <a:stCxn id="25" idx="0"/>
            <a:endCxn id="4" idx="2"/>
          </p:cNvCxnSpPr>
          <p:nvPr/>
        </p:nvCxnSpPr>
        <p:spPr>
          <a:xfrm rot="5400000" flipH="1" flipV="1">
            <a:off x="908843" y="2872582"/>
            <a:ext cx="915989" cy="4921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E376D898-CCC6-F235-6F41-08A123421675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5400000">
            <a:off x="6308752" y="2232105"/>
            <a:ext cx="876246" cy="3619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2D0C042C-96E7-9D67-A358-DA6BE0AC939A}"/>
              </a:ext>
            </a:extLst>
          </p:cNvPr>
          <p:cNvCxnSpPr>
            <a:cxnSpLocks/>
            <a:stCxn id="9" idx="1"/>
            <a:endCxn id="25" idx="3"/>
          </p:cNvCxnSpPr>
          <p:nvPr/>
        </p:nvCxnSpPr>
        <p:spPr>
          <a:xfrm rot="10800000" flipV="1">
            <a:off x="1952626" y="3289299"/>
            <a:ext cx="3781425" cy="7254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34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15209-C125-D661-8CFA-D6431BBF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и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7C307A-DFEA-668F-072F-922A6A1DF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предусмотрели базовые механизмы безопасности, чтобы защитить пользовательские данные и обеспечить стабильную работу сервиса.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Пароли хранятся только в виде хэшей.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Регистрация требует подтверждения электронной почты.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Защита от CSRF-атак.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Ограничение частоты запросов.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Валидация всех входных данных.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Доступ к панели модерации только у модераторов и администраторов.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Резервное копирование базы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74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8879-4307-E676-0227-AEDEBC4B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5256D-DE64-7836-AF08-F940E4E7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получится в результате?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7141D-0519-1DCF-7FC1-A2084A417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результате разработки будет создан веб-сервис, который позволяет: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вести личный учёт фильмов, сериалов и аниме;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ставить оценки и писать заметки;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отслеживать прогресс просмотра;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создавать собственные подборки;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получать статистику;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взаимодействовать с базой медиа через модерацию.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611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99F1B38-9C1B-B106-1862-F55D5E229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20" y="438054"/>
            <a:ext cx="11437159" cy="5981891"/>
          </a:xfrm>
          <a:prstGeom prst="rect">
            <a:avLst/>
          </a:prstGeom>
        </p:spPr>
      </p:pic>
      <p:sp>
        <p:nvSpPr>
          <p:cNvPr id="2" name="Овал 1"/>
          <p:cNvSpPr/>
          <p:nvPr/>
        </p:nvSpPr>
        <p:spPr>
          <a:xfrm>
            <a:off x="5021580" y="1181100"/>
            <a:ext cx="388620" cy="32766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Скругленная соединительная линия 3"/>
          <p:cNvCxnSpPr>
            <a:endCxn id="5122" idx="1"/>
          </p:cNvCxnSpPr>
          <p:nvPr/>
        </p:nvCxnSpPr>
        <p:spPr>
          <a:xfrm>
            <a:off x="5425440" y="1325880"/>
            <a:ext cx="4016732" cy="3995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Gold Ship | Umamusume: Pretty Derby Official Website | Cygames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2172" y="554399"/>
            <a:ext cx="922337" cy="162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вал 7"/>
          <p:cNvSpPr/>
          <p:nvPr/>
        </p:nvSpPr>
        <p:spPr>
          <a:xfrm>
            <a:off x="9469041" y="554399"/>
            <a:ext cx="858360" cy="1845901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619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D62BC-E855-7673-029A-DC1507209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9DFAB8-FADF-7D0D-6870-C7792C17B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6" y="348971"/>
            <a:ext cx="11632587" cy="61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84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FEF88C-4978-E858-F971-154F8949A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66" y="374954"/>
            <a:ext cx="11621267" cy="610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1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679D65-EAEF-69EB-582A-9915663A9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24" y="518445"/>
            <a:ext cx="10997352" cy="582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70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16E1BB-466C-E5C7-6839-C0064C157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35" y="482046"/>
            <a:ext cx="11309929" cy="58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47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449730-F055-52B1-3FC7-918A58CC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4" y="484242"/>
            <a:ext cx="11412612" cy="58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12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81E694-8D00-3B1C-81D3-18628D75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94" y="442800"/>
            <a:ext cx="11296011" cy="59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00793"/>
      </p:ext>
    </p:extLst>
  </p:cSld>
  <p:clrMapOvr>
    <a:masterClrMapping/>
  </p:clrMapOvr>
</p:sld>
</file>

<file path=ppt/theme/theme1.xml><?xml version="1.0" encoding="utf-8"?>
<a:theme xmlns:a="http://schemas.openxmlformats.org/drawingml/2006/main" name="Запись фильма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291</TotalTime>
  <Words>656</Words>
  <Application>Microsoft Office PowerPoint</Application>
  <PresentationFormat>Широкоэкранный</PresentationFormat>
  <Paragraphs>150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Courier New</vt:lpstr>
      <vt:lpstr>Neue Haas Grotesk Text Pro</vt:lpstr>
      <vt:lpstr>Запись фильма</vt:lpstr>
      <vt:lpstr>MovieTracker</vt:lpstr>
      <vt:lpstr>Что такое MovieTracker?</vt:lpstr>
      <vt:lpstr>Какую проблему решает проект?</vt:lpstr>
      <vt:lpstr>Цель создания MovieTracker</vt:lpstr>
      <vt:lpstr>Для кого этот сервис?</vt:lpstr>
      <vt:lpstr>Возможности пользователя</vt:lpstr>
      <vt:lpstr>Личные списки пользователя</vt:lpstr>
      <vt:lpstr>Как появляется информация о медиа?</vt:lpstr>
      <vt:lpstr>Система модерации</vt:lpstr>
      <vt:lpstr>Технологический стек</vt:lpstr>
      <vt:lpstr>Архитектура системы</vt:lpstr>
      <vt:lpstr>Основные сущности</vt:lpstr>
      <vt:lpstr>Безопасность и ограничения</vt:lpstr>
      <vt:lpstr>Что получится в результате?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MovieTracker</dc:title>
  <dc:creator>Павел</dc:creator>
  <cp:lastModifiedBy>User</cp:lastModifiedBy>
  <cp:revision>15</cp:revision>
  <dcterms:created xsi:type="dcterms:W3CDTF">2026-09-30T08:43:36Z</dcterms:created>
  <dcterms:modified xsi:type="dcterms:W3CDTF">2026-10-02T13:16:51Z</dcterms:modified>
</cp:coreProperties>
</file>